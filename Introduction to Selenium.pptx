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66" r:id="rId6"/>
    <p:sldId id="263" r:id="rId7"/>
    <p:sldId id="267" r:id="rId8"/>
    <p:sldId id="268" r:id="rId9"/>
    <p:sldId id="269" r:id="rId10"/>
    <p:sldId id="271" r:id="rId11"/>
    <p:sldId id="264" r:id="rId12"/>
    <p:sldId id="272" r:id="rId13"/>
    <p:sldId id="273" r:id="rId14"/>
    <p:sldId id="274" r:id="rId15"/>
    <p:sldId id="275" r:id="rId16"/>
    <p:sldId id="278" r:id="rId17"/>
    <p:sldId id="279" r:id="rId18"/>
    <p:sldId id="276" r:id="rId19"/>
    <p:sldId id="27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049E9-AC70-FF0A-2B43-F0FD452001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2C76BE-54F6-2471-F9C1-BAECBEF2B7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C19342-6731-B867-DCB5-08AEAB780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7F692-1651-3330-3418-B276AD405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91E39-6618-0E43-39E5-506A9CA74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64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5221D-BA35-259D-A520-08A0220F4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67A13-7130-50BB-3684-9B2079BA4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8C5F4-FE00-B7B3-1DEC-9D4F7484C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BD3DDE-9902-79D4-466A-5DEBBFE8E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B65F15-BA04-ABA9-96D8-3041DDFE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2236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197A5-B42D-E1A8-48C1-7D7039C5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E33C80-31CF-E4BD-855B-06C8702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98B62-7459-9DB6-AC67-7B34E3ADB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C62DE-534A-F998-34A4-96E227523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C2582-E3D3-51D1-4A82-409241C2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7139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70E47-F32C-1A5A-551B-21F37B9DC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14054-6F74-FB3D-4AF1-EC18FE3D97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0E7822-6066-00B7-CD57-C384205F4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6D5A0-5175-BD8F-25E6-5CEB273BA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CECD88-A482-1D1A-7BF7-D939C4E98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32B05-B836-4FC3-A9FD-6A396A216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864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B0C8-2F95-2D2F-8D77-DFBFA3FA5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B50E1-F232-BC03-E28F-4C0FB7EFF7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E5CA6-2223-379B-B382-1B0BF92073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C22ABD-BA4B-F6BC-338C-816CBC4C6E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EC65D-7346-59DF-AB54-B9B4FCE8AA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1F3149-DEA6-5A53-3297-5429ABB67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661571-E1AE-9284-8FBD-D926956D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3E28DD-2541-32FE-9004-141A9065B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4165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9D8AE-C403-CE32-0676-1339C6D70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A36899-BF44-CF8B-21A6-33419069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483FC7-BE10-DC70-0002-0F5FA93A5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9AB928-073D-4FDD-9753-AD4EF9171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0933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C06DD-7766-6BF2-FA0B-0FFE35B3C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7DA3A2-88F5-74E6-185C-434122EAC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ECDFB-F65C-26EF-DB37-A314E949E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899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8B438-2CB3-054A-6663-648C9537C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0117-6D3D-951C-50D9-1042AB903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5918D0-7FE6-59E0-1B82-AA874F9A5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A9EDC1-0471-181F-1175-371A5CC63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43C636-E941-3339-4B29-B92EB9785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02466D-666E-ECFE-146E-0E098F30D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018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1279-D6F5-1240-2FE4-466C7D8A7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65B58C-8513-1DC3-2895-87B24873D1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AC25DC-2ACE-D7F2-4083-038632B36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645237-B54E-819A-F7AA-21A249B63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7AFF3-F7D2-549D-9E74-5B4A73672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EC392-42E3-0D7F-98C1-82BA61FFA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47402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D6BB-C482-D2CC-29E6-C3700994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7A5F10-AFBD-2B99-AE2B-0390AD2AA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0DAEC7-74BB-C73E-7AB4-AAE26706C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372D2-2AF5-94F9-86B5-3F5C3D37A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377BE4-BDC4-B396-F212-1FFE33705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8090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2ABF07-CFA1-320A-F563-D4B49FF5AA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78EC9B-2E8B-06B5-BD90-532F22759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4E69C0-7892-7FE3-217A-1B919745F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B0430-9D29-50E4-782C-90345F79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B9C77-E046-7182-3530-AD4B77FA0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0791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73D3C4-CA7D-A046-AC35-717608F98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FA0B00-A152-DA4B-256C-AE4D72358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3DE97-F89F-BBD0-E9CE-D65D95E116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B04480-208F-47A5-A4FB-C14C8F3FE10F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5120B-5AB0-8F9D-FCDA-10B5EE46A0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7535A8-9FFD-CD7E-2393-D88248E2D9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1533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moqa.com/automation-practice-form" TargetMode="External"/><Relationship Id="rId2" Type="http://schemas.openxmlformats.org/officeDocument/2006/relationships/hyperlink" Target="https://practicetestautomation.com/practice-test-login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racticetestautomation.com/practice-test-login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practicetestautomation.com/practice-test-login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the-internet.herokuapp.com/dynamic_loading/2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aucedemo.com/" TargetMode="Externa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8A97B-465F-BD5A-E11E-D765B6FA23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2702" y="406400"/>
            <a:ext cx="9144000" cy="2387600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  <a:latin typeface="+mn-lt"/>
              </a:rPr>
              <a:t>Mastering Software Testing with Selenium</a:t>
            </a:r>
            <a:endParaRPr lang="en-IN" b="1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DA7915-79A2-C5C6-21B5-33BAA35552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r"/>
            <a:endParaRPr lang="en-US" sz="3600" b="1" dirty="0"/>
          </a:p>
          <a:p>
            <a:pPr algn="r"/>
            <a:r>
              <a:rPr lang="en-US" sz="3600" b="1" dirty="0"/>
              <a:t>Saranya </a:t>
            </a:r>
            <a:r>
              <a:rPr lang="en-US" sz="3600" b="1" dirty="0" err="1"/>
              <a:t>Tiruveedhula</a:t>
            </a:r>
            <a:endParaRPr lang="en-US" sz="3600" b="1" dirty="0"/>
          </a:p>
          <a:p>
            <a:pPr algn="r"/>
            <a:r>
              <a:rPr lang="en-US" sz="3600" b="1" dirty="0"/>
              <a:t>Quality Engineering Analyst, Infosys</a:t>
            </a:r>
            <a:endParaRPr lang="en-IN" sz="3600" b="1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67ED596-51AD-E830-1798-0E2CC0C12150}"/>
              </a:ext>
            </a:extLst>
          </p:cNvPr>
          <p:cNvCxnSpPr>
            <a:cxnSpLocks/>
          </p:cNvCxnSpPr>
          <p:nvPr/>
        </p:nvCxnSpPr>
        <p:spPr>
          <a:xfrm>
            <a:off x="1035698" y="3713584"/>
            <a:ext cx="10245012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45945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EFD46-69F0-5CBA-8F35-D4DF2E0E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rgbClr val="7030A0"/>
                </a:solidFill>
                <a:latin typeface="+mn-lt"/>
              </a:rPr>
              <a:t>Introduction to Selenium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F9B30-1557-C7C9-3C19-BD3C50813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Selenium</a:t>
            </a:r>
            <a:r>
              <a:rPr lang="en-US" dirty="0"/>
              <a:t> is a free and open-source automation framework used for testing web applications across different browsers and platforms.</a:t>
            </a:r>
          </a:p>
          <a:p>
            <a:pPr marL="0" indent="0">
              <a:buNone/>
            </a:pPr>
            <a:r>
              <a:rPr lang="en-IN" b="1" dirty="0"/>
              <a:t>Key Features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dirty="0"/>
              <a:t> Open-source and free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dirty="0"/>
              <a:t> Supports multiple languages — Java, Python, C#, JavaScript, Ruby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dirty="0"/>
              <a:t> Works across browsers — Chrome, Firefox, Edge, Safari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dirty="0"/>
              <a:t> Cross-platform — Windows, Linux, macOS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dirty="0"/>
              <a:t> Supports parallel and remote execution (via Selenium Grid)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3923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3C092-AD33-E285-71A9-DFBE01B01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7" y="93306"/>
            <a:ext cx="11681927" cy="661540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buNone/>
            </a:pPr>
            <a:r>
              <a:rPr lang="en-IN" sz="3600" b="1" dirty="0">
                <a:solidFill>
                  <a:srgbClr val="7030A0"/>
                </a:solidFill>
              </a:rPr>
              <a:t>Selenium Components</a:t>
            </a:r>
          </a:p>
          <a:p>
            <a:pPr marL="0" indent="0">
              <a:spcBef>
                <a:spcPts val="300"/>
              </a:spcBef>
              <a:buNone/>
            </a:pPr>
            <a:endParaRPr lang="en-IN" sz="3600" b="1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IN" sz="2600" dirty="0"/>
              <a:t>Selenium is a suite of tools which can automate actions on web browsers. Each tool is developed to support a specific kind of automation approach.</a:t>
            </a: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endParaRPr lang="en-US" sz="2600" dirty="0"/>
          </a:p>
          <a:p>
            <a:pPr marL="0" indent="0">
              <a:spcBef>
                <a:spcPts val="300"/>
              </a:spcBef>
              <a:buNone/>
            </a:pPr>
            <a:endParaRPr lang="en-US" sz="2600" dirty="0"/>
          </a:p>
          <a:p>
            <a:pPr marL="0" indent="0">
              <a:spcBef>
                <a:spcPts val="300"/>
              </a:spcBef>
              <a:buNone/>
            </a:pPr>
            <a:endParaRPr lang="en-US" sz="26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2600" dirty="0"/>
              <a:t>In this workshop, you’ll mainly use </a:t>
            </a:r>
            <a:r>
              <a:rPr lang="en-US" sz="2600" b="1" dirty="0"/>
              <a:t>Selenium WebDriver</a:t>
            </a:r>
            <a:r>
              <a:rPr lang="en-US" sz="2600" dirty="0"/>
              <a:t> — the core of modern Selenium automation.</a:t>
            </a:r>
          </a:p>
          <a:p>
            <a:pPr marL="0" indent="0">
              <a:spcBef>
                <a:spcPts val="300"/>
              </a:spcBef>
              <a:buNone/>
            </a:pPr>
            <a:endParaRPr lang="en-US" sz="2600" dirty="0"/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5F8608F-C8CA-741B-8D2B-07DF38C651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024069"/>
              </p:ext>
            </p:extLst>
          </p:nvPr>
        </p:nvGraphicFramePr>
        <p:xfrm>
          <a:off x="548951" y="2103120"/>
          <a:ext cx="10515600" cy="265176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13426155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754486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4615566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103987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Used For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Programming Required?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8257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Selenium IDE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Record &amp; playback tool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Quick test recording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❌ 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8946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Selenium RC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Old tool for browser control via server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Deprecated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✅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223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Selenium WebDriver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Automates browsers via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Functional/E2E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✅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531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Selenium Grid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Runs tests in parallel on multiple systems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Parallel &amp; distributed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✅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56499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0780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CFC93-D0DE-E4EC-AB83-FE7B2584F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917" y="-354969"/>
            <a:ext cx="11073883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7030A0"/>
                </a:solidFill>
                <a:latin typeface="+mn-lt"/>
                <a:ea typeface="+mn-ea"/>
                <a:cs typeface="+mn-cs"/>
              </a:rPr>
              <a:t>Selenium WebDriver</a:t>
            </a:r>
            <a:endParaRPr lang="en-IN" sz="3600" b="1" dirty="0">
              <a:solidFill>
                <a:srgbClr val="7030A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0CB4A-47E8-4F52-9768-26EE398F0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17" y="615820"/>
            <a:ext cx="11709919" cy="5840964"/>
          </a:xfrm>
        </p:spPr>
        <p:txBody>
          <a:bodyPr>
            <a:normAutofit/>
          </a:bodyPr>
          <a:lstStyle/>
          <a:p>
            <a:pPr>
              <a:spcBef>
                <a:spcPts val="300"/>
              </a:spcBef>
            </a:pPr>
            <a:r>
              <a:rPr lang="en-US" sz="2400" b="1" dirty="0"/>
              <a:t>Selenium WebDriver</a:t>
            </a:r>
            <a:r>
              <a:rPr lang="en-US" sz="2400" dirty="0"/>
              <a:t> is the </a:t>
            </a:r>
            <a:r>
              <a:rPr lang="en-US" sz="2400" b="1" dirty="0"/>
              <a:t>main component of Selenium</a:t>
            </a:r>
            <a:r>
              <a:rPr lang="en-US" sz="2400" dirty="0"/>
              <a:t> that allows us to </a:t>
            </a:r>
            <a:r>
              <a:rPr lang="en-US" sz="2400" b="1" dirty="0"/>
              <a:t>automate web browser actions</a:t>
            </a:r>
            <a:r>
              <a:rPr lang="en-US" sz="2400" dirty="0"/>
              <a:t>.</a:t>
            </a:r>
          </a:p>
          <a:p>
            <a:pPr>
              <a:spcBef>
                <a:spcPts val="300"/>
              </a:spcBef>
            </a:pPr>
            <a:r>
              <a:rPr lang="en-US" sz="2400" dirty="0"/>
              <a:t>It provides a </a:t>
            </a:r>
            <a:r>
              <a:rPr lang="en-US" sz="2400" b="1" dirty="0"/>
              <a:t>programming interface (API)</a:t>
            </a:r>
            <a:r>
              <a:rPr lang="en-US" sz="2400" dirty="0"/>
              <a:t> to control browsers such as </a:t>
            </a:r>
            <a:r>
              <a:rPr lang="en-US" sz="2400" b="1" dirty="0"/>
              <a:t>Chrome, Firefox, Edge, and Safari</a:t>
            </a:r>
            <a:r>
              <a:rPr lang="en-US" sz="2400" dirty="0"/>
              <a:t>.</a:t>
            </a:r>
          </a:p>
          <a:p>
            <a:pPr>
              <a:spcBef>
                <a:spcPts val="300"/>
              </a:spcBef>
            </a:pPr>
            <a:r>
              <a:rPr lang="en-US" sz="2400" dirty="0"/>
              <a:t>Selenium WebDriver = A bridge between your code and the web browser.</a:t>
            </a:r>
          </a:p>
          <a:p>
            <a:pPr marL="0" indent="0">
              <a:spcBef>
                <a:spcPts val="300"/>
              </a:spcBef>
              <a:buNone/>
            </a:pPr>
            <a:endParaRPr lang="en-US" sz="24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2400" dirty="0"/>
              <a:t>Ex. - Let’s say you want to test a login page automatically: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US" sz="2400" dirty="0"/>
              <a:t>Open Chrome browser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US" sz="2400" dirty="0"/>
              <a:t>Go to the login page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US" sz="2400" dirty="0"/>
              <a:t>Enter username and password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US" sz="2400" dirty="0"/>
              <a:t>Click Login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US" sz="2400" dirty="0"/>
              <a:t>Verify if dashboard is displayed</a:t>
            </a:r>
          </a:p>
          <a:p>
            <a:pPr marL="0" indent="0">
              <a:spcBef>
                <a:spcPts val="300"/>
              </a:spcBef>
              <a:buNone/>
            </a:pPr>
            <a:endParaRPr lang="en-US" sz="24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2400" b="1" dirty="0"/>
              <a:t>Selenium WebDriver </a:t>
            </a:r>
            <a:r>
              <a:rPr lang="en-US" sz="2400" dirty="0"/>
              <a:t>can perform all the above steps automatically through code – for Ex. Java / Python, etc.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9237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BC8B-19ED-2BFA-AB17-110429B65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-140365"/>
            <a:ext cx="113538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7030A0"/>
                </a:solidFill>
                <a:latin typeface="+mn-lt"/>
                <a:ea typeface="+mn-ea"/>
                <a:cs typeface="+mn-cs"/>
              </a:rPr>
              <a:t>Selenium WebDriver Architecture</a:t>
            </a:r>
            <a:endParaRPr lang="en-IN" sz="3600" b="1" dirty="0">
              <a:solidFill>
                <a:srgbClr val="7030A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E53E8-82C0-DBCF-5F07-9318C0770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80" y="1185198"/>
            <a:ext cx="5645021" cy="59809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Selenium WebDriver architecture has 4 layers</a:t>
            </a:r>
          </a:p>
          <a:p>
            <a:pPr marL="0" indent="0">
              <a:buNone/>
            </a:pPr>
            <a:r>
              <a:rPr lang="en-IN" sz="1800" dirty="0">
                <a:solidFill>
                  <a:schemeClr val="accent2">
                    <a:lumMod val="75000"/>
                  </a:schemeClr>
                </a:solidFill>
              </a:rPr>
              <a:t>Your Test Script (Java / Python / etc.)</a:t>
            </a:r>
          </a:p>
          <a:p>
            <a:pPr marL="0" indent="0">
              <a:buNone/>
            </a:pPr>
            <a:r>
              <a:rPr lang="en-IN" sz="1800" dirty="0"/>
              <a:t>          │</a:t>
            </a:r>
          </a:p>
          <a:p>
            <a:pPr marL="0" indent="0">
              <a:buNone/>
            </a:pPr>
            <a:r>
              <a:rPr lang="en-IN" sz="1800" dirty="0"/>
              <a:t>         ▼</a:t>
            </a:r>
          </a:p>
          <a:p>
            <a:pPr marL="0" indent="0">
              <a:buNone/>
            </a:pPr>
            <a:r>
              <a:rPr lang="en-IN" sz="1800" dirty="0">
                <a:solidFill>
                  <a:schemeClr val="accent2">
                    <a:lumMod val="75000"/>
                  </a:schemeClr>
                </a:solidFill>
              </a:rPr>
              <a:t>   Selenium WebDriver API</a:t>
            </a:r>
          </a:p>
          <a:p>
            <a:pPr marL="0" indent="0">
              <a:buNone/>
            </a:pPr>
            <a:r>
              <a:rPr lang="en-IN" sz="1800" dirty="0"/>
              <a:t>          │</a:t>
            </a:r>
          </a:p>
          <a:p>
            <a:pPr marL="0" indent="0">
              <a:buNone/>
            </a:pPr>
            <a:r>
              <a:rPr lang="en-IN" sz="1800" dirty="0"/>
              <a:t>         ▼</a:t>
            </a:r>
          </a:p>
          <a:p>
            <a:pPr marL="0" indent="0">
              <a:buNone/>
            </a:pPr>
            <a:r>
              <a:rPr lang="en-IN" sz="1800" dirty="0"/>
              <a:t>     </a:t>
            </a:r>
            <a:r>
              <a:rPr lang="en-IN" sz="1800" dirty="0">
                <a:solidFill>
                  <a:schemeClr val="accent2">
                    <a:lumMod val="75000"/>
                  </a:schemeClr>
                </a:solidFill>
              </a:rPr>
              <a:t>Browser Driver</a:t>
            </a:r>
          </a:p>
          <a:p>
            <a:pPr marL="0" indent="0">
              <a:buNone/>
            </a:pPr>
            <a:r>
              <a:rPr lang="en-IN" sz="1800" dirty="0"/>
              <a:t> (e.g., </a:t>
            </a:r>
            <a:r>
              <a:rPr lang="en-IN" sz="1800" dirty="0" err="1"/>
              <a:t>ChromeDriver</a:t>
            </a:r>
            <a:r>
              <a:rPr lang="en-IN" sz="1800" dirty="0"/>
              <a:t>, </a:t>
            </a:r>
            <a:r>
              <a:rPr lang="en-IN" sz="1800" dirty="0" err="1"/>
              <a:t>GeckoDriver</a:t>
            </a:r>
            <a:r>
              <a:rPr lang="en-IN" sz="1800" dirty="0"/>
              <a:t>)</a:t>
            </a:r>
          </a:p>
          <a:p>
            <a:pPr marL="0" indent="0">
              <a:buNone/>
            </a:pPr>
            <a:r>
              <a:rPr lang="en-IN" sz="1800" dirty="0"/>
              <a:t>          │</a:t>
            </a:r>
          </a:p>
          <a:p>
            <a:pPr marL="0" indent="0">
              <a:buNone/>
            </a:pPr>
            <a:r>
              <a:rPr lang="en-IN" sz="1800" dirty="0"/>
              <a:t>         ▼</a:t>
            </a:r>
          </a:p>
          <a:p>
            <a:pPr marL="0" indent="0">
              <a:buNone/>
            </a:pPr>
            <a:r>
              <a:rPr lang="en-IN" sz="1800" dirty="0"/>
              <a:t>      </a:t>
            </a:r>
            <a:r>
              <a:rPr lang="en-IN" sz="1800" dirty="0">
                <a:solidFill>
                  <a:schemeClr val="accent2">
                    <a:lumMod val="75000"/>
                  </a:schemeClr>
                </a:solidFill>
              </a:rPr>
              <a:t>Actual Browser</a:t>
            </a:r>
          </a:p>
          <a:p>
            <a:pPr marL="0" indent="0">
              <a:buNone/>
            </a:pPr>
            <a:r>
              <a:rPr lang="en-IN" sz="1800" dirty="0"/>
              <a:t> (e.g., Chrome, Firefox)</a:t>
            </a:r>
          </a:p>
          <a:p>
            <a:pPr marL="0" indent="0">
              <a:buNone/>
            </a:pPr>
            <a:endParaRPr lang="en-IN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628F9D-632C-E4FA-0574-8294B0591B40}"/>
              </a:ext>
            </a:extLst>
          </p:cNvPr>
          <p:cNvSpPr txBox="1"/>
          <p:nvPr/>
        </p:nvSpPr>
        <p:spPr>
          <a:xfrm>
            <a:off x="5676901" y="1068098"/>
            <a:ext cx="624995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Your Test Script</a:t>
            </a:r>
            <a:endParaRPr lang="en-US" sz="1600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sz="1600" dirty="0"/>
              <a:t>You write a command like </a:t>
            </a:r>
            <a:r>
              <a:rPr lang="en-US" sz="1600" dirty="0" err="1"/>
              <a:t>driver.get</a:t>
            </a:r>
            <a:r>
              <a:rPr lang="en-US" sz="1600" dirty="0"/>
              <a:t>(), </a:t>
            </a:r>
            <a:r>
              <a:rPr lang="en-US" sz="1600" dirty="0" err="1"/>
              <a:t>driver.click</a:t>
            </a:r>
            <a:r>
              <a:rPr lang="en-US" sz="1600" dirty="0"/>
              <a:t>(), </a:t>
            </a:r>
            <a:r>
              <a:rPr lang="en-US" sz="1600" dirty="0" err="1"/>
              <a:t>driver.sendKeys</a:t>
            </a:r>
            <a:r>
              <a:rPr lang="en-US" sz="1600" dirty="0"/>
              <a:t>().</a:t>
            </a:r>
          </a:p>
          <a:p>
            <a:endParaRPr lang="en-IN" sz="1600" dirty="0"/>
          </a:p>
          <a:p>
            <a:r>
              <a:rPr lang="en-IN" sz="1600" b="1" dirty="0">
                <a:solidFill>
                  <a:schemeClr val="accent2">
                    <a:lumMod val="75000"/>
                  </a:schemeClr>
                </a:solidFill>
              </a:rPr>
              <a:t>Selenium WebDriver API</a:t>
            </a:r>
          </a:p>
          <a:p>
            <a:r>
              <a:rPr lang="en-US" sz="1600" dirty="0"/>
              <a:t>Converts your command into a </a:t>
            </a:r>
            <a:r>
              <a:rPr lang="en-US" sz="1600" b="1" dirty="0"/>
              <a:t>JSON request </a:t>
            </a:r>
            <a:r>
              <a:rPr lang="en-US" sz="1600" dirty="0"/>
              <a:t>and</a:t>
            </a:r>
            <a:r>
              <a:rPr lang="en-US" sz="1600" b="1" dirty="0"/>
              <a:t> s</a:t>
            </a:r>
            <a:r>
              <a:rPr lang="en-US" sz="1600" dirty="0"/>
              <a:t>ends that request to the </a:t>
            </a:r>
            <a:r>
              <a:rPr lang="en-US" sz="1600" b="1" dirty="0"/>
              <a:t>Browser Driver</a:t>
            </a:r>
            <a:r>
              <a:rPr lang="en-US" sz="1600" dirty="0"/>
              <a:t> (like </a:t>
            </a:r>
            <a:r>
              <a:rPr lang="en-US" sz="1600" dirty="0" err="1"/>
              <a:t>ChromeDriver</a:t>
            </a:r>
            <a:r>
              <a:rPr lang="en-US" sz="1600" dirty="0"/>
              <a:t>) through HTTP protocol.</a:t>
            </a:r>
          </a:p>
          <a:p>
            <a:endParaRPr lang="en-US" sz="1600" b="1" dirty="0"/>
          </a:p>
          <a:p>
            <a:r>
              <a:rPr lang="en-IN" sz="1600" b="1" dirty="0">
                <a:solidFill>
                  <a:schemeClr val="accent2">
                    <a:lumMod val="75000"/>
                  </a:schemeClr>
                </a:solidFill>
              </a:rPr>
              <a:t>Browser Driver (middleman/translator)</a:t>
            </a:r>
            <a:endParaRPr lang="en-IN" sz="1600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sz="1600" dirty="0"/>
              <a:t>This is a </a:t>
            </a:r>
            <a:r>
              <a:rPr lang="en-US" sz="1600" b="1" dirty="0"/>
              <a:t>small executable program</a:t>
            </a:r>
            <a:r>
              <a:rPr lang="en-US" sz="1600" dirty="0"/>
              <a:t> (like chromedriver.exe, geckodriver.exe). It receives JSON commands, understands them, and tells the browser what to do using </a:t>
            </a:r>
            <a:r>
              <a:rPr lang="en-US" sz="1600" b="1" dirty="0"/>
              <a:t>browser-specific automation protocols</a:t>
            </a:r>
            <a:r>
              <a:rPr lang="en-US" sz="1600" dirty="0"/>
              <a:t>.</a:t>
            </a:r>
          </a:p>
          <a:p>
            <a:endParaRPr lang="en-US" sz="1600" b="1" dirty="0"/>
          </a:p>
          <a:p>
            <a:r>
              <a:rPr lang="en-IN" sz="1600" b="1" dirty="0">
                <a:solidFill>
                  <a:schemeClr val="accent2">
                    <a:lumMod val="75000"/>
                  </a:schemeClr>
                </a:solidFill>
              </a:rPr>
              <a:t>Actual Browser</a:t>
            </a:r>
          </a:p>
          <a:p>
            <a:r>
              <a:rPr lang="en-US" sz="1600" dirty="0"/>
              <a:t>The browser (Chrome, Firefox, etc.) executes those commands. It sends the response (success/failure, page title, etc.) back to the Browser Driver</a:t>
            </a:r>
          </a:p>
          <a:p>
            <a:endParaRPr lang="en-US" sz="1600" b="1" dirty="0"/>
          </a:p>
          <a:p>
            <a:r>
              <a:rPr lang="en-IN" sz="1600" b="1" dirty="0">
                <a:solidFill>
                  <a:schemeClr val="accent2">
                    <a:lumMod val="75000"/>
                  </a:schemeClr>
                </a:solidFill>
              </a:rPr>
              <a:t>Response to Selenium WebDriver</a:t>
            </a:r>
          </a:p>
          <a:p>
            <a:r>
              <a:rPr lang="en-US" sz="1600" dirty="0"/>
              <a:t>Browser Driver returns the response to Selenium WebDriver. WebDriver gives that response to your script — so you can see results or handle exceptions.</a:t>
            </a:r>
            <a:endParaRPr lang="en-IN" sz="16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2DC58E-D188-2FC0-1C22-802AFD7DF204}"/>
              </a:ext>
            </a:extLst>
          </p:cNvPr>
          <p:cNvCxnSpPr>
            <a:cxnSpLocks/>
          </p:cNvCxnSpPr>
          <p:nvPr/>
        </p:nvCxnSpPr>
        <p:spPr>
          <a:xfrm>
            <a:off x="4963886" y="895739"/>
            <a:ext cx="0" cy="5206481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0343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999332-FD00-D722-F8EC-D21C935F2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7821" y="668337"/>
            <a:ext cx="5157787" cy="823912"/>
          </a:xfrm>
        </p:spPr>
        <p:txBody>
          <a:bodyPr/>
          <a:lstStyle/>
          <a:p>
            <a:r>
              <a:rPr lang="en-IN" dirty="0">
                <a:solidFill>
                  <a:srgbClr val="7030A0"/>
                </a:solidFill>
              </a:rPr>
              <a:t>Advantages of Using Selenium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4B0D1-11CB-50FB-1894-1F91EBBD7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7820" y="1660849"/>
            <a:ext cx="5157787" cy="4528814"/>
          </a:xfrm>
        </p:spPr>
        <p:txBody>
          <a:bodyPr>
            <a:normAutofit lnSpcReduction="10000"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/>
              <a:t>Works with multiple browsers and 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/>
              <a:t>Integrates with </a:t>
            </a:r>
            <a:r>
              <a:rPr lang="en-US" altLang="en-US" b="1" dirty="0"/>
              <a:t>TestNG</a:t>
            </a:r>
            <a:r>
              <a:rPr lang="en-US" altLang="en-US" dirty="0"/>
              <a:t>, </a:t>
            </a:r>
            <a:r>
              <a:rPr lang="en-US" altLang="en-US" b="1" dirty="0"/>
              <a:t>Maven</a:t>
            </a:r>
            <a:r>
              <a:rPr lang="en-US" altLang="en-US" dirty="0"/>
              <a:t>, </a:t>
            </a:r>
            <a:r>
              <a:rPr lang="en-US" altLang="en-US" b="1" dirty="0"/>
              <a:t>Jenkins</a:t>
            </a:r>
            <a:r>
              <a:rPr lang="en-US" altLang="en-US" dirty="0"/>
              <a:t>, </a:t>
            </a:r>
            <a:r>
              <a:rPr lang="en-US" altLang="en-US" b="1" dirty="0"/>
              <a:t>Git</a:t>
            </a:r>
            <a:r>
              <a:rPr lang="en-US" altLang="en-US" dirty="0"/>
              <a:t>, etc.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/>
              <a:t>Can be combined with frameworks (POM, Data-driven, Hybrid)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/>
              <a:t>Large community and active support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/>
              <a:t>Saves time and improves test coverage</a:t>
            </a: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F5ECF07-695E-4E73-D91E-E96CD7F8FD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668337"/>
            <a:ext cx="5183188" cy="823912"/>
          </a:xfrm>
        </p:spPr>
        <p:txBody>
          <a:bodyPr/>
          <a:lstStyle/>
          <a:p>
            <a:r>
              <a:rPr lang="en-IN" dirty="0">
                <a:solidFill>
                  <a:srgbClr val="7030A0"/>
                </a:solidFill>
              </a:rPr>
              <a:t>Limitations of Selenium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DEA59B2-A75E-A865-0666-E3DE252DF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660849"/>
            <a:ext cx="5183188" cy="4528814"/>
          </a:xfrm>
        </p:spPr>
        <p:txBody>
          <a:bodyPr>
            <a:normAutofit lnSpcReduction="10000"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/>
              <a:t>Works only for </a:t>
            </a:r>
            <a:r>
              <a:rPr lang="en-US" altLang="en-US" b="1" dirty="0"/>
              <a:t>web applications</a:t>
            </a:r>
            <a:r>
              <a:rPr lang="en-US" altLang="en-US" dirty="0"/>
              <a:t> (not desktop or mobile natively)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/>
              <a:t>No built-in reporting — needs TestNG or </a:t>
            </a:r>
            <a:r>
              <a:rPr lang="en-US" altLang="en-US" dirty="0" err="1"/>
              <a:t>ExtentReports</a:t>
            </a:r>
            <a:endParaRPr lang="en-US" altLang="en-US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/>
              <a:t>Requires programming knowledge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/>
              <a:t>Maintenance effort for dynamic web elements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B4D79B8-2D32-AF4C-D5EB-5E06B1B0F89E}"/>
              </a:ext>
            </a:extLst>
          </p:cNvPr>
          <p:cNvCxnSpPr>
            <a:cxnSpLocks/>
          </p:cNvCxnSpPr>
          <p:nvPr/>
        </p:nvCxnSpPr>
        <p:spPr>
          <a:xfrm>
            <a:off x="5915608" y="933061"/>
            <a:ext cx="0" cy="5256602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275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650F3-AA13-D30D-574F-99257258E0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  <a:latin typeface="+mn-lt"/>
              </a:rPr>
              <a:t>Let’s create 1</a:t>
            </a:r>
            <a:r>
              <a:rPr lang="en-US" b="1" baseline="30000" dirty="0">
                <a:solidFill>
                  <a:srgbClr val="7030A0"/>
                </a:solidFill>
                <a:latin typeface="+mn-lt"/>
              </a:rPr>
              <a:t>st</a:t>
            </a:r>
            <a:r>
              <a:rPr lang="en-US" b="1" dirty="0">
                <a:solidFill>
                  <a:srgbClr val="7030A0"/>
                </a:solidFill>
                <a:latin typeface="+mn-lt"/>
              </a:rPr>
              <a:t> Java Project</a:t>
            </a:r>
            <a:endParaRPr lang="en-IN" b="1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40F8E8-645B-6E3B-5E57-0AEF70F9DE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1176" y="2870200"/>
            <a:ext cx="11168742" cy="2387600"/>
          </a:xfrm>
        </p:spPr>
        <p:txBody>
          <a:bodyPr>
            <a:normAutofit/>
          </a:bodyPr>
          <a:lstStyle/>
          <a:p>
            <a:pPr algn="l"/>
            <a:r>
              <a:rPr lang="en-US" sz="3200" dirty="0"/>
              <a:t>Open Eclipse </a:t>
            </a:r>
            <a:r>
              <a:rPr lang="en-US" sz="3200" dirty="0">
                <a:sym typeface="Wingdings" panose="05000000000000000000" pitchFamily="2" charset="2"/>
              </a:rPr>
              <a:t> Create a new Java Project, Package, Class, Add Selenium JARs, Write and Run </a:t>
            </a:r>
            <a:r>
              <a:rPr lang="en-US" sz="3200" dirty="0" err="1">
                <a:sym typeface="Wingdings" panose="05000000000000000000" pitchFamily="2" charset="2"/>
              </a:rPr>
              <a:t>TestSetup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128257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0BD19-D00F-478B-312E-C471D3856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-129398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+mn-lt"/>
              </a:rPr>
              <a:t>Locators in Selenium</a:t>
            </a:r>
            <a:endParaRPr lang="en-IN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DD5F6-D7A1-B5C0-8C23-623A445A5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47"/>
            <a:ext cx="10515600" cy="4852016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locator</a:t>
            </a:r>
            <a:r>
              <a:rPr lang="en-US" dirty="0"/>
              <a:t> tells Selenium </a:t>
            </a:r>
            <a:r>
              <a:rPr lang="en-US" i="1" dirty="0"/>
              <a:t>where</a:t>
            </a:r>
            <a:r>
              <a:rPr lang="en-US" dirty="0"/>
              <a:t> on the web page an element is — like a textbox, button, checkbox, link, etc.</a:t>
            </a:r>
          </a:p>
          <a:p>
            <a:r>
              <a:rPr lang="en-US" dirty="0"/>
              <a:t>Ex. : </a:t>
            </a:r>
            <a:r>
              <a:rPr lang="en-US" dirty="0" err="1"/>
              <a:t>driver.findElement</a:t>
            </a:r>
            <a:r>
              <a:rPr lang="en-US" dirty="0"/>
              <a:t>(By.id("username")); </a:t>
            </a:r>
            <a:r>
              <a:rPr lang="en-US" dirty="0">
                <a:sym typeface="Wingdings" panose="05000000000000000000" pitchFamily="2" charset="2"/>
              </a:rPr>
              <a:t> You’re telling selenium to f</a:t>
            </a:r>
            <a:r>
              <a:rPr lang="en-US" dirty="0"/>
              <a:t>ind the element whose </a:t>
            </a:r>
            <a:r>
              <a:rPr lang="en-US" b="1" dirty="0"/>
              <a:t>id</a:t>
            </a:r>
            <a:r>
              <a:rPr lang="en-US" dirty="0"/>
              <a:t> attribute is </a:t>
            </a:r>
            <a:r>
              <a:rPr lang="en-US" dirty="0">
                <a:solidFill>
                  <a:srgbClr val="00B0F0"/>
                </a:solidFill>
              </a:rPr>
              <a:t>username.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Test URL : </a:t>
            </a:r>
            <a:r>
              <a:rPr lang="en-US" dirty="0">
                <a:hlinkClick r:id="rId2"/>
              </a:rPr>
              <a:t>https://practicetestautomation.com/practice-test-login/</a:t>
            </a:r>
            <a:endParaRPr lang="en-US" dirty="0"/>
          </a:p>
          <a:p>
            <a:r>
              <a:rPr lang="en-US" dirty="0">
                <a:hlinkClick r:id="rId3"/>
              </a:rPr>
              <a:t>https://demoqa.com/automation-practice-form</a:t>
            </a:r>
            <a:r>
              <a:rPr lang="en-US" dirty="0"/>
              <a:t>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2613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15182-025B-765B-0253-91522B7D0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r>
              <a:rPr lang="en-IN" sz="3600" b="1" dirty="0">
                <a:solidFill>
                  <a:srgbClr val="7030A0"/>
                </a:solidFill>
                <a:latin typeface="+mn-lt"/>
              </a:rPr>
              <a:t>Selenium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A0C5A-BC0B-13F3-086A-577FAEEEC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253"/>
            <a:ext cx="10515600" cy="4758710"/>
          </a:xfrm>
        </p:spPr>
        <p:txBody>
          <a:bodyPr/>
          <a:lstStyle/>
          <a:p>
            <a:r>
              <a:rPr lang="en-US" dirty="0"/>
              <a:t>2 types of commands: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>
                <a:hlinkClick r:id="rId2"/>
              </a:rPr>
              <a:t>https://practicetestautomation.com/practice-test-login/</a:t>
            </a:r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F93F3F2-4C20-DC00-FE5F-DAE59D27E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370693"/>
              </p:ext>
            </p:extLst>
          </p:nvPr>
        </p:nvGraphicFramePr>
        <p:xfrm>
          <a:off x="838200" y="2101407"/>
          <a:ext cx="10515600" cy="16459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2576804">
                  <a:extLst>
                    <a:ext uri="{9D8B030D-6E8A-4147-A177-3AD203B41FA5}">
                      <a16:colId xmlns:a16="http://schemas.microsoft.com/office/drawing/2014/main" val="837078848"/>
                    </a:ext>
                  </a:extLst>
                </a:gridCol>
                <a:gridCol w="3713584">
                  <a:extLst>
                    <a:ext uri="{9D8B030D-6E8A-4147-A177-3AD203B41FA5}">
                      <a16:colId xmlns:a16="http://schemas.microsoft.com/office/drawing/2014/main" val="682130828"/>
                    </a:ext>
                  </a:extLst>
                </a:gridCol>
                <a:gridCol w="4225212">
                  <a:extLst>
                    <a:ext uri="{9D8B030D-6E8A-4147-A177-3AD203B41FA5}">
                      <a16:colId xmlns:a16="http://schemas.microsoft.com/office/drawing/2014/main" val="9387150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Example Commands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8895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Browser Commands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Interact with or control the entire browser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get(), getTitle(), getCurrentUrl(), close(), quit()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8031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WebElement Commands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Interact with specific elements on the webpage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click(), </a:t>
                      </a:r>
                      <a:r>
                        <a:rPr lang="en-IN" dirty="0" err="1"/>
                        <a:t>sendKeys</a:t>
                      </a:r>
                      <a:r>
                        <a:rPr lang="en-IN" dirty="0"/>
                        <a:t>(), </a:t>
                      </a:r>
                      <a:r>
                        <a:rPr lang="en-IN" dirty="0" err="1"/>
                        <a:t>getText</a:t>
                      </a:r>
                      <a:r>
                        <a:rPr lang="en-IN" dirty="0"/>
                        <a:t>(), </a:t>
                      </a:r>
                      <a:r>
                        <a:rPr lang="en-IN" dirty="0" err="1"/>
                        <a:t>isDisplayed</a:t>
                      </a:r>
                      <a:r>
                        <a:rPr lang="en-IN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1133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07893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7D47-5FC6-C0C6-5B8F-3D007296C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13373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  <a:latin typeface="+mn-lt"/>
              </a:rPr>
              <a:t>Maven and TestNG</a:t>
            </a:r>
            <a:endParaRPr lang="en-IN" b="1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DEE75-855C-8A56-F938-4371C4FF1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47"/>
            <a:ext cx="10515600" cy="4852016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Maven</a:t>
            </a:r>
            <a:r>
              <a:rPr lang="en-US" dirty="0"/>
              <a:t> is a </a:t>
            </a:r>
            <a:r>
              <a:rPr lang="en-US" b="1" dirty="0"/>
              <a:t>project management and build automation tool</a:t>
            </a:r>
            <a:r>
              <a:rPr lang="en-US" dirty="0"/>
              <a:t> used in Java projects. It helps manage </a:t>
            </a:r>
            <a:r>
              <a:rPr lang="en-US" b="1" dirty="0"/>
              <a:t>project structure</a:t>
            </a:r>
            <a:r>
              <a:rPr lang="en-US" dirty="0"/>
              <a:t>, </a:t>
            </a:r>
            <a:r>
              <a:rPr lang="en-US" b="1" dirty="0"/>
              <a:t>dependencies</a:t>
            </a:r>
            <a:r>
              <a:rPr lang="en-US" dirty="0"/>
              <a:t>, and </a:t>
            </a:r>
            <a:r>
              <a:rPr lang="en-US" b="1" dirty="0"/>
              <a:t>builds</a:t>
            </a:r>
            <a:r>
              <a:rPr lang="en-US" dirty="0"/>
              <a:t> easily.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Tasks:</a:t>
            </a:r>
          </a:p>
          <a:p>
            <a:r>
              <a:rPr lang="en-US" dirty="0"/>
              <a:t>Create a Maven Project</a:t>
            </a:r>
          </a:p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Group ID </a:t>
            </a:r>
            <a:r>
              <a:rPr lang="en-US" dirty="0"/>
              <a:t>- It uniquely identifies your </a:t>
            </a:r>
            <a:r>
              <a:rPr lang="en-US" b="1" dirty="0"/>
              <a:t>organization or project group </a:t>
            </a:r>
            <a:r>
              <a:rPr lang="en-US" dirty="0"/>
              <a:t>and follows the </a:t>
            </a:r>
            <a:r>
              <a:rPr lang="en-US" b="1" dirty="0"/>
              <a:t>reverse domain naming convention.</a:t>
            </a:r>
          </a:p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Artifact ID </a:t>
            </a:r>
            <a:r>
              <a:rPr lang="en-US" dirty="0"/>
              <a:t>- It is the </a:t>
            </a:r>
            <a:r>
              <a:rPr lang="en-US" b="1" dirty="0"/>
              <a:t>name of the specific project or module</a:t>
            </a:r>
            <a:r>
              <a:rPr lang="en-US" dirty="0"/>
              <a:t> you are creating.</a:t>
            </a:r>
            <a:endParaRPr lang="en-US" b="1" dirty="0"/>
          </a:p>
          <a:p>
            <a:r>
              <a:rPr lang="en-US" dirty="0"/>
              <a:t>Add Selenium dependency to pom.xml and save file.</a:t>
            </a:r>
          </a:p>
          <a:p>
            <a:r>
              <a:rPr lang="en-US" dirty="0"/>
              <a:t>Maven automatically downloads these libraries from the Maven repository — no need to manually add JARs!</a:t>
            </a:r>
          </a:p>
          <a:p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9032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E48AC-9090-5242-0046-E52D0E09D6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959"/>
            <a:ext cx="10515600" cy="6037004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TestNG</a:t>
            </a:r>
            <a:r>
              <a:rPr lang="en-US" dirty="0"/>
              <a:t> (Test Next Generation) is a </a:t>
            </a:r>
            <a:r>
              <a:rPr lang="en-US" b="1" dirty="0"/>
              <a:t>testing framework</a:t>
            </a:r>
            <a:r>
              <a:rPr lang="en-US" dirty="0"/>
              <a:t> inspired by JUnit. It provides annotations, grouping, parallel testing, reporting, and easy test management.</a:t>
            </a:r>
          </a:p>
          <a:p>
            <a:r>
              <a:rPr lang="en-US" dirty="0"/>
              <a:t>In real automation frameworks, we don’t use main(). Instead, we use </a:t>
            </a:r>
            <a:r>
              <a:rPr lang="en-US" b="1" dirty="0"/>
              <a:t>TestNG</a:t>
            </a:r>
            <a:r>
              <a:rPr lang="en-US" dirty="0"/>
              <a:t> to manage and execute our test cases.</a:t>
            </a:r>
          </a:p>
          <a:p>
            <a:r>
              <a:rPr lang="en-US" dirty="0"/>
              <a:t>To install </a:t>
            </a:r>
            <a:r>
              <a:rPr lang="en-US" dirty="0">
                <a:sym typeface="Wingdings" panose="05000000000000000000" pitchFamily="2" charset="2"/>
              </a:rPr>
              <a:t> add dependency 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  <a:sym typeface="Wingdings" panose="05000000000000000000" pitchFamily="2" charset="2"/>
              </a:rPr>
              <a:t>TestNG Annotations:</a:t>
            </a:r>
          </a:p>
          <a:p>
            <a:r>
              <a:rPr lang="en-US" b="1" dirty="0"/>
              <a:t>Annotations in TestNG</a:t>
            </a:r>
            <a:r>
              <a:rPr lang="en-US" dirty="0"/>
              <a:t> are special keywords (starting with @) used to </a:t>
            </a:r>
            <a:r>
              <a:rPr lang="en-US" b="1" dirty="0"/>
              <a:t>control the flow of test execution</a:t>
            </a:r>
            <a:r>
              <a:rPr lang="en-US" dirty="0"/>
              <a:t> — before, during, and after test cases run.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4103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1D034-4454-4C84-6A86-652EC922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rgbClr val="7030A0"/>
                </a:solidFill>
                <a:latin typeface="+mn-lt"/>
              </a:rPr>
              <a:t>POM (Page Object Model)</a:t>
            </a:r>
            <a:endParaRPr lang="en-IN" sz="4000" b="1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0A7D9-6ADC-C943-1B15-B8C490691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Page Object Model (POM) is a </a:t>
            </a:r>
            <a:r>
              <a:rPr lang="en-US" b="1" dirty="0"/>
              <a:t>design pattern</a:t>
            </a:r>
            <a:r>
              <a:rPr lang="en-US" dirty="0"/>
              <a:t> in Selenium where we create a </a:t>
            </a:r>
            <a:r>
              <a:rPr lang="en-US" b="1" dirty="0"/>
              <a:t>separate class for each webpage</a:t>
            </a:r>
            <a:r>
              <a:rPr lang="en-US" dirty="0"/>
              <a:t>.</a:t>
            </a:r>
          </a:p>
          <a:p>
            <a:r>
              <a:rPr lang="en-US" dirty="0"/>
              <a:t>The Pages and objects are separated from tests for reusability, readability,  and easy maintenance.</a:t>
            </a:r>
          </a:p>
          <a:p>
            <a:r>
              <a:rPr lang="en-IN" dirty="0"/>
              <a:t>Test Class → Calls → Page Class → Uses → WebDriver (via </a:t>
            </a:r>
            <a:r>
              <a:rPr lang="en-IN" dirty="0" err="1"/>
              <a:t>BaseTest</a:t>
            </a:r>
            <a:r>
              <a:rPr lang="en-IN" dirty="0"/>
              <a:t>)</a:t>
            </a:r>
          </a:p>
          <a:p>
            <a:pPr marL="0" indent="0">
              <a:buNone/>
            </a:pPr>
            <a:r>
              <a:rPr lang="en-IN" dirty="0"/>
              <a:t>Ex. - </a:t>
            </a:r>
            <a:r>
              <a:rPr lang="en-IN" dirty="0">
                <a:hlinkClick r:id="rId2"/>
              </a:rPr>
              <a:t>https://practicetestautomation.com/practice-test-login/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12150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40516-041F-2A0F-A423-7A37A0312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249" y="-175984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7030A0"/>
                </a:solidFill>
                <a:latin typeface="+mn-lt"/>
              </a:rPr>
              <a:t>Synchronization and Waits (Timing Control)</a:t>
            </a:r>
            <a:endParaRPr lang="en-IN" sz="3600" b="1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58E07-DC6B-0732-B124-517243779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249" y="802433"/>
            <a:ext cx="11064551" cy="5374530"/>
          </a:xfrm>
        </p:spPr>
        <p:txBody>
          <a:bodyPr/>
          <a:lstStyle/>
          <a:p>
            <a:r>
              <a:rPr lang="en-US" dirty="0"/>
              <a:t>Selenium is very fast — faster than your browser or server response time. If Selenium tries to click or type before an element appears, it throws:</a:t>
            </a:r>
          </a:p>
          <a:p>
            <a:pPr marL="0" indent="0">
              <a:buNone/>
            </a:pPr>
            <a:r>
              <a:rPr lang="en-IN" dirty="0"/>
              <a:t>❌ </a:t>
            </a:r>
            <a:r>
              <a:rPr lang="en-IN" dirty="0" err="1"/>
              <a:t>NoSuchElementException</a:t>
            </a:r>
            <a:r>
              <a:rPr lang="en-IN" dirty="0"/>
              <a:t> or ❌ </a:t>
            </a:r>
            <a:r>
              <a:rPr lang="en-IN" dirty="0" err="1"/>
              <a:t>ElementNotInteractableException</a:t>
            </a:r>
            <a:endParaRPr lang="en-IN" dirty="0"/>
          </a:p>
          <a:p>
            <a:r>
              <a:rPr lang="en-US" dirty="0"/>
              <a:t>Synchronization ensures Selenium waits for the element to appear before performing actions.</a:t>
            </a:r>
          </a:p>
          <a:p>
            <a:r>
              <a:rPr lang="en-US" dirty="0"/>
              <a:t>3 Types:</a:t>
            </a:r>
          </a:p>
          <a:p>
            <a:pPr marL="0" indent="0">
              <a:buNone/>
            </a:pP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E3D33CF-A4DA-9D11-E846-13F295DE4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221628"/>
              </p:ext>
            </p:extLst>
          </p:nvPr>
        </p:nvGraphicFramePr>
        <p:xfrm>
          <a:off x="563724" y="3682187"/>
          <a:ext cx="10515600" cy="2286000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675623">
                  <a:extLst>
                    <a:ext uri="{9D8B030D-6E8A-4147-A177-3AD203B41FA5}">
                      <a16:colId xmlns:a16="http://schemas.microsoft.com/office/drawing/2014/main" val="2820176697"/>
                    </a:ext>
                  </a:extLst>
                </a:gridCol>
                <a:gridCol w="2024743">
                  <a:extLst>
                    <a:ext uri="{9D8B030D-6E8A-4147-A177-3AD203B41FA5}">
                      <a16:colId xmlns:a16="http://schemas.microsoft.com/office/drawing/2014/main" val="2918608734"/>
                    </a:ext>
                  </a:extLst>
                </a:gridCol>
                <a:gridCol w="4186334">
                  <a:extLst>
                    <a:ext uri="{9D8B030D-6E8A-4147-A177-3AD203B41FA5}">
                      <a16:colId xmlns:a16="http://schemas.microsoft.com/office/drawing/2014/main" val="380152313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46784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Wait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Scope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Best For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087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Implicit Wait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Global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Waits for elements to appear for a fixed 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Simple static waits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5045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Explicit Wait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Specific element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Waits until a condition (e.g., clickable, visible) is met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Dynamic elements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4423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Fluent Wait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Specific element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Like Explicit but with custom polling frequency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Highly dynamic pages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936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7937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991EB-C85D-66AA-8845-4C6B4AAB7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894" y="177282"/>
            <a:ext cx="11588620" cy="599968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Implicit wait syntax </a:t>
            </a:r>
            <a:r>
              <a:rPr lang="en-US" dirty="0"/>
              <a:t>–</a:t>
            </a:r>
          </a:p>
          <a:p>
            <a:pPr marL="0" indent="0">
              <a:buNone/>
            </a:pPr>
            <a:r>
              <a:rPr lang="en-IN" dirty="0" err="1"/>
              <a:t>driver.manage</a:t>
            </a:r>
            <a:r>
              <a:rPr lang="en-IN" dirty="0"/>
              <a:t>().timeouts().</a:t>
            </a:r>
            <a:r>
              <a:rPr lang="en-IN" dirty="0" err="1"/>
              <a:t>implicitlyWait</a:t>
            </a:r>
            <a:r>
              <a:rPr lang="en-IN" dirty="0"/>
              <a:t>(</a:t>
            </a:r>
            <a:r>
              <a:rPr lang="en-IN" dirty="0" err="1"/>
              <a:t>Duration.ofSeconds</a:t>
            </a:r>
            <a:r>
              <a:rPr lang="en-IN" dirty="0"/>
              <a:t>(10));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>
                <a:solidFill>
                  <a:schemeClr val="accent2">
                    <a:lumMod val="75000"/>
                  </a:schemeClr>
                </a:solidFill>
              </a:rPr>
              <a:t>Explicit wait syntax </a:t>
            </a:r>
            <a:r>
              <a:rPr lang="en-IN" dirty="0"/>
              <a:t>– </a:t>
            </a:r>
          </a:p>
          <a:p>
            <a:pPr marL="0" indent="0">
              <a:buNone/>
            </a:pPr>
            <a:r>
              <a:rPr lang="en-IN" dirty="0" err="1"/>
              <a:t>WebDriverWait</a:t>
            </a:r>
            <a:r>
              <a:rPr lang="en-IN" dirty="0"/>
              <a:t> wait = new </a:t>
            </a:r>
            <a:r>
              <a:rPr lang="en-IN" dirty="0" err="1"/>
              <a:t>WebDriverWait</a:t>
            </a:r>
            <a:r>
              <a:rPr lang="en-IN" dirty="0"/>
              <a:t>(driver, </a:t>
            </a:r>
            <a:r>
              <a:rPr lang="en-IN" dirty="0" err="1"/>
              <a:t>Duration.ofSeconds</a:t>
            </a:r>
            <a:r>
              <a:rPr lang="en-IN" dirty="0"/>
              <a:t>(10));</a:t>
            </a:r>
          </a:p>
          <a:p>
            <a:pPr marL="0" indent="0">
              <a:buNone/>
            </a:pPr>
            <a:r>
              <a:rPr lang="en-IN" dirty="0" err="1"/>
              <a:t>WebElement</a:t>
            </a:r>
            <a:r>
              <a:rPr lang="en-IN" dirty="0"/>
              <a:t> </a:t>
            </a:r>
            <a:r>
              <a:rPr lang="en-IN" dirty="0" err="1"/>
              <a:t>loginBtn</a:t>
            </a:r>
            <a:r>
              <a:rPr lang="en-IN" dirty="0"/>
              <a:t> = </a:t>
            </a:r>
            <a:r>
              <a:rPr lang="en-IN" dirty="0" err="1"/>
              <a:t>wait.until</a:t>
            </a:r>
            <a:r>
              <a:rPr lang="en-IN" dirty="0"/>
              <a:t>(</a:t>
            </a:r>
            <a:r>
              <a:rPr lang="en-IN" dirty="0" err="1"/>
              <a:t>ExpectedConditions.elementToBeClickable</a:t>
            </a:r>
            <a:r>
              <a:rPr lang="en-IN" dirty="0"/>
              <a:t>(By.id("submit")));</a:t>
            </a:r>
          </a:p>
          <a:p>
            <a:pPr marL="0" indent="0">
              <a:buNone/>
            </a:pPr>
            <a:r>
              <a:rPr lang="en-IN" dirty="0" err="1"/>
              <a:t>loginBtn.click</a:t>
            </a:r>
            <a:r>
              <a:rPr lang="en-IN" dirty="0"/>
              <a:t>();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>
                <a:solidFill>
                  <a:schemeClr val="accent2">
                    <a:lumMod val="75000"/>
                  </a:schemeClr>
                </a:solidFill>
              </a:rPr>
              <a:t>Fluent wait syntax </a:t>
            </a:r>
            <a:r>
              <a:rPr lang="en-IN" dirty="0"/>
              <a:t>– </a:t>
            </a:r>
          </a:p>
          <a:p>
            <a:pPr marL="0" indent="0">
              <a:buNone/>
            </a:pPr>
            <a:r>
              <a:rPr lang="en-IN" dirty="0"/>
              <a:t>Wait&lt;WebDriver&gt; wait = new </a:t>
            </a:r>
            <a:r>
              <a:rPr lang="en-IN" dirty="0" err="1"/>
              <a:t>FluentWait</a:t>
            </a:r>
            <a:r>
              <a:rPr lang="en-IN" dirty="0"/>
              <a:t>&lt;&gt;(driver)</a:t>
            </a:r>
          </a:p>
          <a:p>
            <a:pPr marL="0" indent="0">
              <a:buNone/>
            </a:pPr>
            <a:r>
              <a:rPr lang="en-IN" dirty="0"/>
              <a:t>    .</a:t>
            </a:r>
            <a:r>
              <a:rPr lang="en-IN" dirty="0" err="1"/>
              <a:t>withTimeout</a:t>
            </a:r>
            <a:r>
              <a:rPr lang="en-IN" dirty="0"/>
              <a:t>(</a:t>
            </a:r>
            <a:r>
              <a:rPr lang="en-IN" dirty="0" err="1"/>
              <a:t>Duration.ofSeconds</a:t>
            </a:r>
            <a:r>
              <a:rPr lang="en-IN" dirty="0"/>
              <a:t>(20))</a:t>
            </a:r>
          </a:p>
          <a:p>
            <a:pPr marL="0" indent="0">
              <a:buNone/>
            </a:pPr>
            <a:r>
              <a:rPr lang="en-IN" dirty="0"/>
              <a:t>    .</a:t>
            </a:r>
            <a:r>
              <a:rPr lang="en-IN" dirty="0" err="1"/>
              <a:t>pollingEvery</a:t>
            </a:r>
            <a:r>
              <a:rPr lang="en-IN" dirty="0"/>
              <a:t>(</a:t>
            </a:r>
            <a:r>
              <a:rPr lang="en-IN" dirty="0" err="1"/>
              <a:t>Duration.ofSeconds</a:t>
            </a:r>
            <a:r>
              <a:rPr lang="en-IN" dirty="0"/>
              <a:t>(2))</a:t>
            </a:r>
          </a:p>
          <a:p>
            <a:pPr marL="0" indent="0">
              <a:buNone/>
            </a:pPr>
            <a:r>
              <a:rPr lang="en-IN" dirty="0"/>
              <a:t>    .ignoring(</a:t>
            </a:r>
            <a:r>
              <a:rPr lang="en-IN" dirty="0" err="1"/>
              <a:t>NoSuchElementException.class</a:t>
            </a:r>
            <a:r>
              <a:rPr lang="en-IN" dirty="0"/>
              <a:t>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WebElement</a:t>
            </a:r>
            <a:r>
              <a:rPr lang="en-IN" dirty="0"/>
              <a:t> element = </a:t>
            </a:r>
            <a:r>
              <a:rPr lang="en-IN" dirty="0" err="1"/>
              <a:t>wait.until</a:t>
            </a:r>
            <a:r>
              <a:rPr lang="en-IN" dirty="0"/>
              <a:t>(driver -&gt; </a:t>
            </a:r>
            <a:r>
              <a:rPr lang="en-IN" dirty="0" err="1"/>
              <a:t>driver.findElement</a:t>
            </a:r>
            <a:r>
              <a:rPr lang="en-IN" dirty="0"/>
              <a:t>(By.id("username")));</a:t>
            </a:r>
          </a:p>
          <a:p>
            <a:pPr marL="0" indent="0">
              <a:buNone/>
            </a:pPr>
            <a:r>
              <a:rPr lang="en-IN" dirty="0" err="1"/>
              <a:t>element.sendKeys</a:t>
            </a:r>
            <a:r>
              <a:rPr lang="en-IN" dirty="0"/>
              <a:t>("student");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Ex: </a:t>
            </a:r>
            <a:r>
              <a:rPr lang="en-IN" dirty="0">
                <a:hlinkClick r:id="rId2"/>
              </a:rPr>
              <a:t>https://the-internet.herokuapp.com/dynamic_loading/2</a:t>
            </a:r>
            <a:r>
              <a:rPr lang="en-IN" dirty="0"/>
              <a:t> 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3408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09341-D46E-4B46-B8FB-AAA3B8A83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  <a:latin typeface="+mn-lt"/>
              </a:rPr>
              <a:t>Data-Driven Testing</a:t>
            </a:r>
            <a:endParaRPr lang="en-IN" b="1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48567-1000-D80E-EC37-FCEF1EC94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Data-Driven Testing (DDT)</a:t>
            </a:r>
            <a:r>
              <a:rPr lang="en-US" dirty="0"/>
              <a:t> is a testing approach where test input values and expected results are stored </a:t>
            </a:r>
            <a:r>
              <a:rPr lang="en-US" b="1" dirty="0"/>
              <a:t>outside the test script</a:t>
            </a:r>
            <a:r>
              <a:rPr lang="en-US" dirty="0"/>
              <a:t> (in files like Excel, CSV, or databases).</a:t>
            </a:r>
          </a:p>
          <a:p>
            <a:r>
              <a:rPr lang="en-US" dirty="0"/>
              <a:t>The same test case is executed </a:t>
            </a:r>
            <a:r>
              <a:rPr lang="en-US" b="1" dirty="0"/>
              <a:t>multiple times with different data sets</a:t>
            </a:r>
            <a:r>
              <a:rPr lang="en-US" dirty="0"/>
              <a:t>.</a:t>
            </a:r>
          </a:p>
          <a:p>
            <a:r>
              <a:rPr lang="en-US" dirty="0"/>
              <a:t>Demo </a:t>
            </a:r>
            <a:r>
              <a:rPr lang="en-US" dirty="0">
                <a:sym typeface="Wingdings" panose="05000000000000000000" pitchFamily="2" charset="2"/>
              </a:rPr>
              <a:t> LoginDDT.java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0313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42AEF-3EF4-0D74-59CB-1D9F6F2AC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  <a:latin typeface="+mn-lt"/>
              </a:rPr>
              <a:t>Utilities</a:t>
            </a:r>
            <a:endParaRPr lang="en-IN" b="1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D67A9-6937-52DA-271A-98901499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4743"/>
            <a:ext cx="10515600" cy="4152220"/>
          </a:xfrm>
        </p:spPr>
        <p:txBody>
          <a:bodyPr/>
          <a:lstStyle/>
          <a:p>
            <a:r>
              <a:rPr lang="en-US" dirty="0"/>
              <a:t>Utilities are helper classes that perform common tasks like taking screenshots, reading Excel files, or fetching configurations.</a:t>
            </a:r>
          </a:p>
          <a:p>
            <a:r>
              <a:rPr lang="en-IN" dirty="0" err="1"/>
              <a:t>ScreenshotUtil</a:t>
            </a:r>
            <a:r>
              <a:rPr lang="en-IN" dirty="0"/>
              <a:t> - </a:t>
            </a:r>
            <a:r>
              <a:rPr lang="en-US" dirty="0"/>
              <a:t>This Screenshot Utility is part of our framework’s </a:t>
            </a:r>
            <a:r>
              <a:rPr lang="en-US" i="1" dirty="0"/>
              <a:t>utilities layer</a:t>
            </a:r>
            <a:r>
              <a:rPr lang="en-US" dirty="0"/>
              <a:t>. Any test can call these methods. This is reusability in action.</a:t>
            </a:r>
          </a:p>
          <a:p>
            <a:r>
              <a:rPr lang="en-US" dirty="0"/>
              <a:t>Similar to </a:t>
            </a:r>
            <a:r>
              <a:rPr lang="en-US" dirty="0" err="1"/>
              <a:t>BaseTest</a:t>
            </a:r>
            <a:r>
              <a:rPr lang="en-US" dirty="0"/>
              <a:t> sets up browsers, and Page Classes contain actions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7359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507D5-7E90-9F69-CE84-40CA6E329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6624"/>
            <a:ext cx="9144000" cy="23876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Let’s Practice!!</a:t>
            </a:r>
            <a:endParaRPr lang="en-IN" b="1" dirty="0">
              <a:solidFill>
                <a:srgbClr val="7030A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ADC96C-32AA-72E6-5232-EE24F049CA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sz="3600" dirty="0"/>
              <a:t>🔗 </a:t>
            </a:r>
            <a:r>
              <a:rPr lang="en-IN" sz="3600" b="1" dirty="0"/>
              <a:t>URL:</a:t>
            </a:r>
            <a:r>
              <a:rPr lang="en-IN" sz="3600" dirty="0"/>
              <a:t> </a:t>
            </a:r>
            <a:r>
              <a:rPr lang="en-IN" sz="3600" dirty="0">
                <a:hlinkClick r:id="rId2"/>
              </a:rPr>
              <a:t>https://www.saucedemo.com/</a:t>
            </a:r>
            <a:r>
              <a:rPr lang="en-IN" sz="36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179828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CB96A-F7F1-62D6-563F-B532AE576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solidFill>
                  <a:srgbClr val="7030A0"/>
                </a:solidFill>
                <a:latin typeface="+mn-lt"/>
              </a:rPr>
              <a:t>Selenium Workshop – Summary of Topics Covered</a:t>
            </a:r>
            <a:endParaRPr lang="en-IN" sz="3600" b="1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95C1A-C548-6FE2-46CF-1CEC5587B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1️⃣ Introduction to Software Testing &amp; Automation</a:t>
            </a:r>
          </a:p>
          <a:p>
            <a:pPr marL="0" indent="0">
              <a:buNone/>
            </a:pPr>
            <a:r>
              <a:rPr lang="en-IN" dirty="0"/>
              <a:t>2️⃣ Introduction to Selenium, Selenium components</a:t>
            </a:r>
          </a:p>
          <a:p>
            <a:pPr marL="0" indent="0">
              <a:buNone/>
            </a:pPr>
            <a:r>
              <a:rPr lang="en-IN" dirty="0"/>
              <a:t>3️⃣ Selenium WebDriver &amp; Architecture</a:t>
            </a:r>
          </a:p>
          <a:p>
            <a:pPr marL="0" indent="0">
              <a:buNone/>
            </a:pPr>
            <a:r>
              <a:rPr lang="en-IN" dirty="0"/>
              <a:t>4️⃣ Locators &amp; Selenium Commands</a:t>
            </a:r>
          </a:p>
          <a:p>
            <a:pPr marL="0" indent="0">
              <a:buNone/>
            </a:pPr>
            <a:r>
              <a:rPr lang="en-US" dirty="0"/>
              <a:t>5️⃣ TestNG Framework (Structure &amp; Execution)</a:t>
            </a:r>
          </a:p>
          <a:p>
            <a:pPr marL="0" indent="0">
              <a:buNone/>
            </a:pPr>
            <a:r>
              <a:rPr lang="en-US" dirty="0"/>
              <a:t>6️⃣ Page Object Model (POM) Design Pattern</a:t>
            </a:r>
          </a:p>
          <a:p>
            <a:pPr marL="0" indent="0">
              <a:buNone/>
            </a:pPr>
            <a:r>
              <a:rPr lang="en-IN" dirty="0"/>
              <a:t>7️⃣ Synchronization (Waits), </a:t>
            </a:r>
          </a:p>
          <a:p>
            <a:pPr marL="0" indent="0">
              <a:buNone/>
            </a:pPr>
            <a:r>
              <a:rPr lang="en-IN" dirty="0"/>
              <a:t>8️⃣ Data-Driven Testing (DDT)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53138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84948-08C1-D1FA-4D6B-89502DB08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59837"/>
            <a:ext cx="10515600" cy="5617126"/>
          </a:xfrm>
        </p:spPr>
        <p:txBody>
          <a:bodyPr/>
          <a:lstStyle/>
          <a:p>
            <a:pPr marL="0" indent="0">
              <a:buNone/>
            </a:pPr>
            <a:r>
              <a:rPr lang="en-IN" sz="3600" b="1" dirty="0"/>
              <a:t>🏁 </a:t>
            </a:r>
            <a:r>
              <a:rPr lang="en-IN" sz="3600" b="1" dirty="0">
                <a:solidFill>
                  <a:srgbClr val="7030A0"/>
                </a:solidFill>
              </a:rPr>
              <a:t>Next Steps (Optional Learning)</a:t>
            </a:r>
          </a:p>
          <a:p>
            <a:pPr marL="0" indent="0">
              <a:buNone/>
            </a:pPr>
            <a:endParaRPr lang="en-IN" b="1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IN" b="1" dirty="0">
              <a:solidFill>
                <a:srgbClr val="7030A0"/>
              </a:solidFill>
            </a:endParaRPr>
          </a:p>
          <a:p>
            <a:r>
              <a:rPr lang="en-IN" dirty="0"/>
              <a:t>📊 Reporting: </a:t>
            </a:r>
            <a:r>
              <a:rPr lang="en-IN" dirty="0" err="1"/>
              <a:t>ExtentReports</a:t>
            </a:r>
            <a:r>
              <a:rPr lang="en-IN" dirty="0"/>
              <a:t> / Allure</a:t>
            </a:r>
          </a:p>
          <a:p>
            <a:r>
              <a:rPr lang="en-IN" dirty="0"/>
              <a:t>📄 Data from Excel (Apache POI)</a:t>
            </a:r>
          </a:p>
          <a:p>
            <a:r>
              <a:rPr lang="en-IN" dirty="0"/>
              <a:t>🧩 Framework Types (Hybrid, Keyword-Driven, BDD with Cucumber)</a:t>
            </a:r>
          </a:p>
          <a:p>
            <a:r>
              <a:rPr lang="en-IN" dirty="0"/>
              <a:t>☁️ CI Integration (Jenkins / GitHub Actions)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7364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1529</TotalTime>
  <Words>1482</Words>
  <Application>Microsoft Office PowerPoint</Application>
  <PresentationFormat>Widescreen</PresentationFormat>
  <Paragraphs>207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Wingdings</vt:lpstr>
      <vt:lpstr>Office Theme</vt:lpstr>
      <vt:lpstr>Mastering Software Testing with Selenium</vt:lpstr>
      <vt:lpstr>Introduction to Selenium</vt:lpstr>
      <vt:lpstr>PowerPoint Presentation</vt:lpstr>
      <vt:lpstr>Selenium WebDriver</vt:lpstr>
      <vt:lpstr>Selenium WebDriver Architecture</vt:lpstr>
      <vt:lpstr>PowerPoint Presentation</vt:lpstr>
      <vt:lpstr>Let’s create 1st Java Project</vt:lpstr>
      <vt:lpstr>Locators in Selenium</vt:lpstr>
      <vt:lpstr>Selenium Commands</vt:lpstr>
      <vt:lpstr>Maven and TestNG</vt:lpstr>
      <vt:lpstr>PowerPoint Presentation</vt:lpstr>
      <vt:lpstr>POM (Page Object Model)</vt:lpstr>
      <vt:lpstr>Synchronization and Waits (Timing Control)</vt:lpstr>
      <vt:lpstr>PowerPoint Presentation</vt:lpstr>
      <vt:lpstr>Data-Driven Testing</vt:lpstr>
      <vt:lpstr>Utilities</vt:lpstr>
      <vt:lpstr>Let’s Practice!!</vt:lpstr>
      <vt:lpstr>Selenium Workshop – Summary of Topics Covered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Duddela</dc:creator>
  <cp:lastModifiedBy>Duddela</cp:lastModifiedBy>
  <cp:revision>59</cp:revision>
  <dcterms:created xsi:type="dcterms:W3CDTF">2025-11-10T17:59:34Z</dcterms:created>
  <dcterms:modified xsi:type="dcterms:W3CDTF">2025-11-12T19:12:07Z</dcterms:modified>
</cp:coreProperties>
</file>