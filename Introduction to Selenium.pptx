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49E9-AC70-FF0A-2B43-F0FD45200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C76BE-54F6-2471-F9C1-BAECBEF2B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19342-6731-B867-DCB5-08AEAB78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7F692-1651-3330-3418-B276AD405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91E39-6618-0E43-39E5-506A9CA7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6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5221D-BA35-259D-A520-08A0220F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67A13-7130-50BB-3684-9B2079BA4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8C5F4-FE00-B7B3-1DEC-9D4F7484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D3DDE-9902-79D4-466A-5DEBBFE8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65F15-BA04-ABA9-96D8-3041DDFE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23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97A5-B42D-E1A8-48C1-7D7039C5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33C80-31CF-E4BD-855B-06C8702E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98B62-7459-9DB6-AC67-7B34E3AD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62DE-534A-F998-34A4-96E22752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C2582-E3D3-51D1-4A82-409241C2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13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0E47-F32C-1A5A-551B-21F37B9D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4054-6F74-FB3D-4AF1-EC18FE3D9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E7822-6066-00B7-CD57-C384205F4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6D5A0-5175-BD8F-25E6-5CEB273B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ECD88-A482-1D1A-7BF7-D939C4E98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32B05-B836-4FC3-A9FD-6A396A21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864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B0C8-2F95-2D2F-8D77-DFBFA3FA5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B50E1-F232-BC03-E28F-4C0FB7EFF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E5CA6-2223-379B-B382-1B0BF9207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C22ABD-BA4B-F6BC-338C-816CBC4C6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BEC65D-7346-59DF-AB54-B9B4FCE8A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1F3149-DEA6-5A53-3297-5429ABB6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61571-E1AE-9284-8FBD-D926956D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3E28DD-2541-32FE-9004-141A9065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16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D8AE-C403-CE32-0676-1339C6D7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36899-BF44-CF8B-21A6-33419069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83FC7-BE10-DC70-0002-0F5FA93A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AB928-073D-4FDD-9753-AD4EF917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93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C06DD-7766-6BF2-FA0B-0FFE35B3C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7DA3A2-88F5-74E6-185C-434122EAC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ECDFB-F65C-26EF-DB37-A314E949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9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B438-2CB3-054A-6663-648C9537C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80117-6D3D-951C-50D9-1042AB903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918D0-7FE6-59E0-1B82-AA874F9A5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9EDC1-0471-181F-1175-371A5CC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3C636-E941-3339-4B29-B92EB978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2466D-666E-ECFE-146E-0E098F30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1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1279-D6F5-1240-2FE4-466C7D8A7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65B58C-8513-1DC3-2895-87B24873D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C25DC-2ACE-D7F2-4083-038632B36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45237-B54E-819A-F7AA-21A249B6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7AFF3-F7D2-549D-9E74-5B4A7367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EC392-42E3-0D7F-98C1-82BA61FF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74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D6BB-C482-D2CC-29E6-C3700994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A5F10-AFBD-2B99-AE2B-0390AD2AA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DAEC7-74BB-C73E-7AB4-AAE26706C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72D2-2AF5-94F9-86B5-3F5C3D37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77BE4-BDC4-B396-F212-1FFE3370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090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2ABF07-CFA1-320A-F563-D4B49FF5A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8EC9B-2E8B-06B5-BD90-532F22759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E69C0-7892-7FE3-217A-1B919745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B0430-9D29-50E4-782C-90345F79C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B9C77-E046-7182-3530-AD4B77FA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791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3D3C4-CA7D-A046-AC35-717608F9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A0B00-A152-DA4B-256C-AE4D72358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3DE97-F89F-BBD0-E9CE-D65D95E11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04480-208F-47A5-A4FB-C14C8F3FE10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5120B-5AB0-8F9D-FCDA-10B5EE46A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535A8-9FFD-CD7E-2393-D88248E2D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1F85E-E322-4EBE-9608-67BD64747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53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A97B-465F-BD5A-E11E-D765B6FA2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Selenium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A7915-79A2-C5C6-21B5-33BAA35552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594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EFD46-69F0-5CBA-8F35-D4DF2E0E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7030A0"/>
                </a:solidFill>
                <a:latin typeface="+mn-lt"/>
              </a:rPr>
              <a:t>Introduction to 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F9B30-1557-C7C9-3C19-BD3C50813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Selenium</a:t>
            </a:r>
            <a:r>
              <a:rPr lang="en-US" dirty="0"/>
              <a:t> is a free and open-source automation framework used for testing web applications across different browsers and platforms.</a:t>
            </a:r>
          </a:p>
          <a:p>
            <a:pPr marL="0" indent="0">
              <a:buNone/>
            </a:pPr>
            <a:r>
              <a:rPr lang="en-IN" b="1" dirty="0"/>
              <a:t>Key Features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Open-source and free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Supports multiple languages — Java, Python, C#, JavaScript, Ruby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Works across browsers — Chrome, Firefox, Edge, Safari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Cross-platform — Windows, Linux, macOS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Supports parallel and remote execution (via Selenium Grid)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92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3C092-AD33-E285-71A9-DFBE01B01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93306"/>
            <a:ext cx="11681927" cy="6615404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IN" sz="3600" b="1" dirty="0">
                <a:solidFill>
                  <a:srgbClr val="7030A0"/>
                </a:solidFill>
              </a:rPr>
              <a:t>Selenium Components</a:t>
            </a:r>
          </a:p>
          <a:p>
            <a:pPr marL="0" indent="0">
              <a:spcBef>
                <a:spcPts val="300"/>
              </a:spcBef>
              <a:buNone/>
            </a:pPr>
            <a:endParaRPr lang="en-IN" dirty="0">
              <a:solidFill>
                <a:srgbClr val="7030A0"/>
              </a:solidFill>
            </a:endParaRPr>
          </a:p>
          <a:p>
            <a:pPr marL="0" indent="0">
              <a:spcBef>
                <a:spcPts val="300"/>
              </a:spcBef>
              <a:buNone/>
            </a:pPr>
            <a:endParaRPr lang="en-IN" dirty="0">
              <a:solidFill>
                <a:srgbClr val="7030A0"/>
              </a:solidFill>
            </a:endParaRPr>
          </a:p>
          <a:p>
            <a:pPr marL="0" indent="0">
              <a:spcBef>
                <a:spcPts val="300"/>
              </a:spcBef>
              <a:buNone/>
            </a:pPr>
            <a:endParaRPr lang="en-IN" dirty="0">
              <a:solidFill>
                <a:srgbClr val="7030A0"/>
              </a:solidFill>
            </a:endParaRPr>
          </a:p>
          <a:p>
            <a:pPr marL="0" indent="0">
              <a:spcBef>
                <a:spcPts val="300"/>
              </a:spcBef>
              <a:buNone/>
            </a:pPr>
            <a:endParaRPr lang="en-IN" dirty="0">
              <a:solidFill>
                <a:srgbClr val="7030A0"/>
              </a:solidFill>
            </a:endParaRPr>
          </a:p>
          <a:p>
            <a:pPr marL="0" indent="0">
              <a:spcBef>
                <a:spcPts val="300"/>
              </a:spcBef>
              <a:buNone/>
            </a:pPr>
            <a:endParaRPr lang="en-IN" dirty="0">
              <a:solidFill>
                <a:srgbClr val="7030A0"/>
              </a:solidFill>
            </a:endParaRPr>
          </a:p>
          <a:p>
            <a:pPr marL="0" indent="0">
              <a:spcBef>
                <a:spcPts val="300"/>
              </a:spcBef>
              <a:buNone/>
            </a:pPr>
            <a:endParaRPr lang="en-US" sz="2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/>
              <a:t>In this workshop, you’ll mainly use </a:t>
            </a:r>
            <a:r>
              <a:rPr lang="en-US" sz="2600" b="1" dirty="0"/>
              <a:t>Selenium WebDriver</a:t>
            </a:r>
            <a:r>
              <a:rPr lang="en-US" sz="2600" dirty="0"/>
              <a:t> — the core of modern Selenium automation.</a:t>
            </a:r>
          </a:p>
          <a:p>
            <a:pPr marL="0" indent="0">
              <a:spcBef>
                <a:spcPts val="300"/>
              </a:spcBef>
              <a:buNone/>
            </a:pPr>
            <a:endParaRPr lang="en-US" sz="2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/>
              <a:t>Ex. - Let’s say you want to test a login page automatically:</a:t>
            </a:r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en-US" sz="2600" dirty="0"/>
              <a:t>Open Chrome browser</a:t>
            </a:r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en-US" sz="2600" dirty="0"/>
              <a:t>Go to the login page</a:t>
            </a:r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en-US" sz="2600" dirty="0"/>
              <a:t>Enter username and password</a:t>
            </a:r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en-US" sz="2600" dirty="0"/>
              <a:t>Click Login</a:t>
            </a:r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en-US" sz="2600" dirty="0"/>
              <a:t>Verify if dashboard is displayed</a:t>
            </a:r>
          </a:p>
          <a:p>
            <a:pPr marL="0" indent="0">
              <a:spcBef>
                <a:spcPts val="300"/>
              </a:spcBef>
              <a:buNone/>
            </a:pPr>
            <a:endParaRPr lang="en-US" sz="2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2600" b="1" dirty="0"/>
              <a:t>Selenium WebDriver </a:t>
            </a:r>
            <a:r>
              <a:rPr lang="en-US" sz="2600" dirty="0"/>
              <a:t>can perform all the above steps automatically through Java code.</a:t>
            </a:r>
          </a:p>
          <a:p>
            <a:pPr marL="0" indent="0">
              <a:spcBef>
                <a:spcPts val="300"/>
              </a:spcBef>
              <a:buNone/>
            </a:pPr>
            <a:endParaRPr lang="en-IN" dirty="0">
              <a:solidFill>
                <a:srgbClr val="7030A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D4795C-E440-0610-E785-F813D70C2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298031"/>
              </p:ext>
            </p:extLst>
          </p:nvPr>
        </p:nvGraphicFramePr>
        <p:xfrm>
          <a:off x="912844" y="681037"/>
          <a:ext cx="9024257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61996">
                  <a:extLst>
                    <a:ext uri="{9D8B030D-6E8A-4147-A177-3AD203B41FA5}">
                      <a16:colId xmlns:a16="http://schemas.microsoft.com/office/drawing/2014/main" val="1383634918"/>
                    </a:ext>
                  </a:extLst>
                </a:gridCol>
                <a:gridCol w="5962261">
                  <a:extLst>
                    <a:ext uri="{9D8B030D-6E8A-4147-A177-3AD203B41FA5}">
                      <a16:colId xmlns:a16="http://schemas.microsoft.com/office/drawing/2014/main" val="3478188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Component</a:t>
                      </a:r>
                      <a:endParaRPr lang="en-IN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Description</a:t>
                      </a:r>
                      <a:endParaRPr lang="en-IN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874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Selenium IDE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Record and playback tool for beginners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40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Selenium WebDriver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Core API for writing automation scripts in various 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974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Selenium Grid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Run tests on multiple machines and browsers simultaneously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17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Selenium RC (Deprecated)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Older version replaced by WebDriver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816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78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0661F5-C268-38C9-D001-C4BFE513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99332-FD00-D722-F8EC-D21C935F2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Advantages of Using Selenium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4B0D1-11CB-50FB-1894-1F91EBBD7D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Works with multiple browsers and OS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Integrates with </a:t>
            </a:r>
            <a:r>
              <a:rPr lang="en-US" altLang="en-US" b="1" dirty="0"/>
              <a:t>TestNG</a:t>
            </a:r>
            <a:r>
              <a:rPr lang="en-US" altLang="en-US" dirty="0"/>
              <a:t>, </a:t>
            </a:r>
            <a:r>
              <a:rPr lang="en-US" altLang="en-US" b="1" dirty="0"/>
              <a:t>Maven</a:t>
            </a:r>
            <a:r>
              <a:rPr lang="en-US" altLang="en-US" dirty="0"/>
              <a:t>, </a:t>
            </a:r>
            <a:r>
              <a:rPr lang="en-US" altLang="en-US" b="1" dirty="0"/>
              <a:t>Jenkins</a:t>
            </a:r>
            <a:r>
              <a:rPr lang="en-US" altLang="en-US" dirty="0"/>
              <a:t>, </a:t>
            </a:r>
            <a:r>
              <a:rPr lang="en-US" altLang="en-US" b="1" dirty="0"/>
              <a:t>Git</a:t>
            </a:r>
            <a:r>
              <a:rPr lang="en-US" altLang="en-US" dirty="0"/>
              <a:t>, etc.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Can be combined with frameworks (POM, Data-driven, Hybrid)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Large community and active support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Saves time and improves test coverage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5ECF07-695E-4E73-D91E-E96CD7F8F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Limitations of Selenium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EA59B2-A75E-A865-0666-E3DE252DF7F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Works only for </a:t>
            </a:r>
            <a:r>
              <a:rPr lang="en-US" altLang="en-US" b="1" dirty="0"/>
              <a:t>web applications</a:t>
            </a:r>
            <a:r>
              <a:rPr lang="en-US" altLang="en-US" dirty="0"/>
              <a:t> (not desktop or mobile natively)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No built-in reporting — needs TestNG or </a:t>
            </a:r>
            <a:r>
              <a:rPr lang="en-US" altLang="en-US" dirty="0" err="1"/>
              <a:t>ExtentReports</a:t>
            </a: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Requires programming knowledge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Maintenance effort for dynamic web elements</a:t>
            </a:r>
          </a:p>
        </p:txBody>
      </p:sp>
    </p:spTree>
    <p:extLst>
      <p:ext uri="{BB962C8B-B14F-4D97-AF65-F5344CB8AC3E}">
        <p14:creationId xmlns:p14="http://schemas.microsoft.com/office/powerpoint/2010/main" val="124214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56C2-9BC3-0D87-DB77-2C3CDF295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483567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7030A0"/>
                </a:solidFill>
                <a:latin typeface="+mn-lt"/>
              </a:rPr>
              <a:t>Set up Selenium Java in Eclipse</a:t>
            </a:r>
            <a:endParaRPr lang="en-IN" sz="4800" b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D18C9-541F-CBF8-3D7B-C85F2B922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0098"/>
            <a:ext cx="9144000" cy="3307702"/>
          </a:xfrm>
        </p:spPr>
        <p:txBody>
          <a:bodyPr/>
          <a:lstStyle/>
          <a:p>
            <a:pPr algn="l"/>
            <a:r>
              <a:rPr lang="en-US" dirty="0"/>
              <a:t>Follow the handbook instructions and run the “</a:t>
            </a:r>
            <a:r>
              <a:rPr lang="en-IN" dirty="0" err="1"/>
              <a:t>TestSetup</a:t>
            </a:r>
            <a:r>
              <a:rPr lang="en-IN" dirty="0"/>
              <a:t>” (Java Project)</a:t>
            </a:r>
          </a:p>
        </p:txBody>
      </p:sp>
    </p:spTree>
    <p:extLst>
      <p:ext uri="{BB962C8B-B14F-4D97-AF65-F5344CB8AC3E}">
        <p14:creationId xmlns:p14="http://schemas.microsoft.com/office/powerpoint/2010/main" val="2729787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F1DD-71B9-C36E-51DB-722B6E1F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  <a:latin typeface="+mn-lt"/>
              </a:rPr>
              <a:t>Introduction to Maven</a:t>
            </a:r>
            <a:endParaRPr lang="en-IN" sz="3600" b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F4CB4-2B12-2F86-2C3B-9BF0B829A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988"/>
            <a:ext cx="10515600" cy="49919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Maven</a:t>
            </a:r>
            <a:r>
              <a:rPr lang="en-US" dirty="0"/>
              <a:t> is a </a:t>
            </a:r>
            <a:r>
              <a:rPr lang="en-US" b="1" dirty="0"/>
              <a:t>build automation and project management tool</a:t>
            </a:r>
            <a:r>
              <a:rPr lang="en-US" dirty="0"/>
              <a:t> used primarily for </a:t>
            </a:r>
            <a:r>
              <a:rPr lang="en-US" b="1" dirty="0"/>
              <a:t>Java projects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helps developers manage:</a:t>
            </a:r>
          </a:p>
          <a:p>
            <a:r>
              <a:rPr lang="en-US" b="1" dirty="0"/>
              <a:t>Dependencies</a:t>
            </a:r>
            <a:r>
              <a:rPr lang="en-US" dirty="0"/>
              <a:t> (external libraries)</a:t>
            </a:r>
          </a:p>
          <a:p>
            <a:r>
              <a:rPr lang="en-US" b="1" dirty="0"/>
              <a:t>Build lifecycle</a:t>
            </a:r>
            <a:r>
              <a:rPr lang="en-US" dirty="0"/>
              <a:t> (compile → test → package)</a:t>
            </a:r>
          </a:p>
          <a:p>
            <a:r>
              <a:rPr lang="en-US" b="1" dirty="0"/>
              <a:t>Project structure</a:t>
            </a:r>
            <a:endParaRPr lang="en-US" dirty="0"/>
          </a:p>
          <a:p>
            <a:r>
              <a:rPr lang="en-US" b="1" dirty="0"/>
              <a:t>Reports &amp; plugins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9774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319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Selenium</vt:lpstr>
      <vt:lpstr>Introduction to Selenium</vt:lpstr>
      <vt:lpstr>PowerPoint Presentation</vt:lpstr>
      <vt:lpstr>PowerPoint Presentation</vt:lpstr>
      <vt:lpstr>Set up Selenium Java in Eclipse</vt:lpstr>
      <vt:lpstr>Introduction to Maven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Duddela</dc:creator>
  <cp:lastModifiedBy>Duddela</cp:lastModifiedBy>
  <cp:revision>11</cp:revision>
  <dcterms:created xsi:type="dcterms:W3CDTF">2025-11-10T17:59:34Z</dcterms:created>
  <dcterms:modified xsi:type="dcterms:W3CDTF">2025-11-11T01:33:59Z</dcterms:modified>
</cp:coreProperties>
</file>